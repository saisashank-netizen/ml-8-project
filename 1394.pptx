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6" r:id="rId27"/>
    <p:sldId id="277" r:id="rId28"/>
    <p:sldId id="278" r:id="rId29"/>
    <p:sldId id="279" r:id="rId3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457200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955279" cy="1325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3400" b="1">
                <a:solidFill>
                  <a:srgbClr val="F6F8FC"/>
                </a:solidFill>
              </a:defRPr>
            </a:pPr>
            <a:r>
              <a:t>Traffic Flow Pattern</a:t>
            </a:r>
            <a:br/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60320"/>
            <a:ext cx="7772400" cy="5029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600" b="0">
                <a:solidFill>
                  <a:srgbClr val="A4B0C2"/>
                </a:solidFill>
              </a:defRPr>
            </a:pPr>
            <a:r>
              <a:t>Using K-Means and DBSCAN for Smart Urban Traffic Congestion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22191"/>
            <a:ext cx="5074920" cy="14173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950207"/>
            <a:ext cx="46360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15968"/>
            <a:ext cx="45720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0">
                <a:solidFill>
                  <a:srgbClr val="F6F8FC"/>
                </a:solidFill>
              </a:defRPr>
            </a:pPr>
            <a:r>
              <a:t>N. Yeswanth Kumar  •  2520030183</a:t>
            </a:r>
            <a:br/>
            <a:r>
              <a:t>B. Sai Sashank  •  2520030454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4590288"/>
            <a:ext cx="4023360" cy="6583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300" b="0">
                <a:solidFill>
                  <a:srgbClr val="A4B0C2"/>
                </a:solidFill>
              </a:defRPr>
            </a:pPr>
            <a:r>
              <a:t>Under Mr. Shaik Asif</a:t>
            </a:r>
            <a:br/>
            <a:r>
              <a:t>CSE • KLEF •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Understanding urban traffic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Traffic conditions change continuously and can be described using measurable road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THE TRAFFIC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57200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000" b="1">
                <a:solidFill>
                  <a:srgbClr val="F6F8FC"/>
                </a:solidFill>
              </a:defRPr>
            </a:pPr>
            <a:r>
              <a:t>A traffic observation is not defined by a single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4617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Vehicle count indicates the amount of traffic present.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Average speed reflects how freely vehicles are moving.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Traffic density represents how many vehicles occupy a unit road length.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Road occupancy describes how much of the road is occupied.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PROJECT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617720" cy="10515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Instead of manually defining every traffic pattern, use unsupervised learning to discover groups in the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794760"/>
            <a:ext cx="1874519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913632"/>
            <a:ext cx="1691639" cy="45719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Traffic measurements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2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794760"/>
            <a:ext cx="1554480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913632"/>
            <a:ext cx="1371600" cy="45719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3913632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2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800600"/>
            <a:ext cx="1920240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919472"/>
            <a:ext cx="1737360" cy="45719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Traffic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83480"/>
            <a:ext cx="228600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A4B0C2"/>
                </a:solidFill>
              </a:defRPr>
            </a:pPr>
            <a:r>
              <a:t>K-Means + DBSCAN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What are we trying to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project treats traffic-pattern discovery as an unsupervised machine-learning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903720" cy="43891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11095"/>
            <a:ext cx="64648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6263640" cy="12344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000" b="1">
                <a:solidFill>
                  <a:srgbClr val="F6F8FC"/>
                </a:solidFill>
              </a:defRPr>
            </a:pPr>
            <a:r>
              <a:t>Given traffic observations containing vehicle count, speed, density and occupancy, identify meaningful groups of observations that represent different traffic-flow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20116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FAD4C"/>
                </a:solidFill>
              </a:defRPr>
            </a:pPr>
            <a:r>
              <a:t>The important point: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6172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are not training a classifier with a target output.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are discovering structure already present in the numerical measurements.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Different clustering algorithms can reveal different views of the same traffic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83080"/>
            <a:ext cx="3703320" cy="43891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7576" y="1911095"/>
            <a:ext cx="32644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WHY CLUSTERING?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42316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542032"/>
            <a:ext cx="282549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980944"/>
            <a:ext cx="282549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predefined target label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70332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3822191"/>
            <a:ext cx="282549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4261104"/>
            <a:ext cx="282549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core traffic measurements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98348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5102352"/>
            <a:ext cx="282549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5541264"/>
            <a:ext cx="282549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clustering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workflow moves from understanding the data to evaluating two clustering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56231"/>
            <a:ext cx="233172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Explore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856231"/>
            <a:ext cx="717804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Understand structure, distributions, relationships and data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33472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34640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52344"/>
            <a:ext cx="233172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Prepare the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52344"/>
            <a:ext cx="717804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Handle missing values and standardize the four clustering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307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43D89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48456"/>
            <a:ext cx="233172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Apply K-Means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48456"/>
            <a:ext cx="717804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Find broad traffic patterns and determine a suitable number of clusters.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25696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626864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FFAD4C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44568"/>
            <a:ext cx="233172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Apply DBSCAN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544568"/>
            <a:ext cx="717804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Discover density-based structure and identify noise observations.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21808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522976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F55E69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233172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Evaluate &amp;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440680"/>
            <a:ext cx="717804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Silhouette Score and Davies-Bouldin Index to describe the clustering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What previous research has explored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Selected traffic-clustering studies that directly connect to our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60020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892807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783080"/>
            <a:ext cx="228600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892807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83080"/>
            <a:ext cx="23774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9280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Traffic data / focus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783080"/>
            <a:ext cx="21488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892807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Key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83080"/>
            <a:ext cx="23774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9280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Scope / limitation relevant to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8600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237744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Kianfar &amp; Edara
(2013)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28600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237744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Hierarchical +
K-Means + GMM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28600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23774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Freeway sensor data;
speed, occupancy,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28600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37744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Clusters traffic into
free-flow and congested
regimes.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3774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Focused on freeway
bottlenecks and
fundamental diagrams.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7472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56616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Almeida et al.
(2023)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47472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35661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K-Means +
DBSCAN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47472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356616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Urban bus mobility
data; congestion levels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347472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356616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K-Means for
congestion levels and
DBSCAN for road patterns.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47472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56616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bus-mobility probe
data; our project uses a
compact feature table.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6344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754879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Lahijanian et al.
(2025)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66344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754879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K-Means + DBSCAN
+ Affinity Propagation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466344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59" y="4754879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11 months of motorway
time-series 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466344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4754879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Shows clustering can
separate day/traffic
patterns and anomalies.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466344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4754879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longitudinal motorway
data; our scope is a simpler
student-scale pipeline.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EBEFF5"/>
                </a:solidFill>
                <a:latin typeface="Aptos"/>
              </a:rPr>
              <a:t>Sources: Kianfar &amp; Edara (2013); Almeida et al. (2023); Lahijanian et al. (2025).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What is different about our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The goal is not to claim previous work is weak; our project chooses a different, simpler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1605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PREVIOUS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 selected studies use freeway sensor, bus-mobility or longitudinal traffic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0984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Their scopes include congestion regimes, road-level congestion or day/traffic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8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These richer spatial/temporal datasets are outside the scope of our compact student-scale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73752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Algorithm choice and DBSCAN parameter selection remain important modelling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49240" cy="41605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299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D891"/>
                </a:solidFill>
                <a:latin typeface="Aptos"/>
              </a:rPr>
              <a:t>OUR PROJECT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Uses four directly interpretable traffic measurements: vehicle count, speed, density and occupancy.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00984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Applies both K-Means and DBSCAN to the same standardized feature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87368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Evaluates the resulting structures using Silhouette Score and Davies-Bouldin Index.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73752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Keeps the pipeline compact and explainable for urban traffic-pattern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6235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C71FF"/>
                </a:solidFill>
                <a:latin typeface="Aptos"/>
              </a:rPr>
              <a:t>KEY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559552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A simple, reproducible comparison of centroid-based and density-based clustering on common traffic-flow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Our project: from measurements to traffic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A compact pipeline that keeps the algorithms, features and interpretation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Traffic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Vehicle count
Speed
Density
Occupancy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C71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Quality check
Standardize
Feature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D89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K-Means
DBSCAN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B446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Silhouette
Davies-Bouldin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Traffic profiles
Noise observations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WHY THIS COMBINATION?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1324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K-Means gives broad centroid-based groups, while DBSCAN adds a density-based view and explicit noise detection. Comparing both helps us understand how different clustering assumptions organize the same traffic observations.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Selected research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Use these papers in the literature-survey discussion and keep the full citations in the project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 Data Mining Approach to Creating Fundamental Traffic Flow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Kianfar, J., &amp; Edara, P. (2013) • Procedia - Social and Behavioral Sciences, 104, 430–439 • DOI: 10.1016/j.sbspro.2013.11.136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47672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Clustering traffic data into free-flow and congested regimes using traffic-flow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72968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7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Exploring bus tracking data to characterize urban traffic congestion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21607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Almeida, A., Brás, S., Sargento, S., &amp; Oliveira, I. (2023) • Journal of Urban Mobility, 4, 100065 • DOI: 10.1016/j.urbmob.2023.100065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33756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Uses K-Means and DBSCAN for urban congestion characterization from bus mobility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62856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7457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0016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Empirical analysis of traffic patterns: Leveraging machine learning techniques for in-Depth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11496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Lahijanian, Z., Isaenko, N., Fusco, G., &amp; Colombaroni, C. (2025) • Transportation Research Procedia, 90, 250–257 • DOI: 10.1016/j.trpro.2025.06.065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727448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Compares K-Means, DBSCAN and Affinity Propagation on motorway traffic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AAB4C3"/>
                </a:solidFill>
              </a:rPr>
              <a:t>Full citation details are included in the project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Dataset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rPr sz="1100">
                <a:solidFill>
                  <a:srgbClr val="F5F8FC"/>
                </a:solidFill>
                <a:latin typeface="Aptos"/>
              </a:rPr>
              <a:t>The current dataset contains 588 traffic records and 8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874519" cy="114300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17282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rPr sz="1100">
                <a:solidFill>
                  <a:srgbClr val="F5F8FC"/>
                </a:solidFill>
                <a:latin typeface="Aptos"/>
              </a:rPr>
              <a:t>588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40864"/>
            <a:ext cx="17282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783080"/>
            <a:ext cx="1874519" cy="114300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901952"/>
            <a:ext cx="17282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340864"/>
            <a:ext cx="17282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83080"/>
            <a:ext cx="6720840" cy="11430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1911095"/>
            <a:ext cx="628192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DATASET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21992"/>
            <a:ext cx="608076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300" b="0">
                <a:solidFill>
                  <a:srgbClr val="F6F8FC"/>
                </a:solidFill>
              </a:defRPr>
            </a:pPr>
            <a:r>
              <a:t>The dataset contains traffic measurements together with time-related fields and a Traffic_Condition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5212080" cy="28803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328416"/>
            <a:ext cx="477316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COLUMNS USED FOR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9039"/>
            <a:ext cx="4617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Vehicle_Count — number of vehicles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Average_Speed_kmph — average traffic speed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Traffic_Density_veh_per_km — vehicles per kilometre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Road_Occupancy_percent — percentage of road occupied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00400"/>
            <a:ext cx="5349240" cy="28803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328416"/>
            <a:ext cx="491032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OTHER DATA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Record_ID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Hour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Day_of_Week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Traffic_Condition — Low / Moderate /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68112"/>
            <a:ext cx="4526280" cy="34747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A4B0C2"/>
                </a:solidFill>
              </a:defRPr>
            </a:pPr>
            <a:r>
              <a:t>The four numerical traffic features are the inputs used for clustering.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Data quality and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Clustering is sensitive to missing values and feature scale, so preparation is performed before 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29184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285292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DATA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265176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1"/>
            <a:ext cx="250545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3"/>
            <a:ext cx="250545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51460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A4B0C2"/>
                </a:solidFill>
              </a:defRPr>
            </a:pPr>
            <a:r>
              <a:rPr sz="1100" b="1">
                <a:solidFill>
                  <a:srgbClr val="F5F8FC"/>
                </a:solidFill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6F8FC"/>
                </a:solidFill>
              </a:defRPr>
            </a:pPr>
            <a:r>
              <a:rPr sz="1100">
                <a:solidFill>
                  <a:srgbClr val="A6B2C5"/>
                </a:solidFill>
              </a:rPr>
              <a:t>0 missing values across all clustering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737360"/>
            <a:ext cx="73152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865376"/>
            <a:ext cx="68762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FINAL PREPROCESSING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13432"/>
            <a:ext cx="1874519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Select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13432"/>
            <a:ext cx="4069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four numerical traffic features.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36391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118103"/>
            <a:ext cx="1874519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03720" y="3118103"/>
            <a:ext cx="4069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rPr sz="1100" b="1">
                <a:solidFill>
                  <a:srgbClr val="F5F8FC"/>
                </a:solidFill>
              </a:rPr>
              <a:t>Quality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41063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922776"/>
            <a:ext cx="1874519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StandardScaler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922776"/>
            <a:ext cx="4069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Put features onto a comparable standardized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45736"/>
            <a:ext cx="4114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727448"/>
            <a:ext cx="1874519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727448"/>
            <a:ext cx="4069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the cleaned/scaled matrix for K-Means and DBSCAN.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23560"/>
            <a:ext cx="105156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Why scale?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96128"/>
            <a:ext cx="5394960" cy="4114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0">
                <a:solidFill>
                  <a:srgbClr val="F6F8FC"/>
                </a:solidFill>
              </a:defRPr>
            </a:pPr>
            <a:r>
              <a:t>Distance-based clustering should not be dominated by a feature simply because it has a larger numerical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distributions of traffic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notebook examines the individual distributions before clustering.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53212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ehicle_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01" y="2002536"/>
            <a:ext cx="2388996" cy="1636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5166359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544068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eed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73" y="2002536"/>
            <a:ext cx="2388996" cy="1636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1783080"/>
            <a:ext cx="507492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Average Speed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13632"/>
            <a:ext cx="553212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nsit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201" y="4224528"/>
            <a:ext cx="2388996" cy="1636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005072"/>
            <a:ext cx="5166359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Density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913632"/>
            <a:ext cx="544068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ccupancy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473" y="4224528"/>
            <a:ext cx="2388996" cy="1636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4005072"/>
            <a:ext cx="507492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Road Occupancy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236208"/>
            <a:ext cx="836676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000" b="0">
                <a:solidFill>
                  <a:srgbClr val="A4B0C2"/>
                </a:solidFill>
              </a:defRPr>
            </a:pPr>
            <a:r>
              <a:t>These distributions help us understand the range and spread of each numerical feature before applying clustering.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traffic conditions and feature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scatter plots reveal how traffic variables change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794760" cy="44805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ffic_condi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66008"/>
            <a:ext cx="3593592" cy="27329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342900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Condition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691640"/>
            <a:ext cx="7086600" cy="44805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ehicle_vs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122" y="2002536"/>
            <a:ext cx="5925778" cy="4059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592" y="1783080"/>
            <a:ext cx="672084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vs Average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788152"/>
            <a:ext cx="6537960" cy="31089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0">
                <a:solidFill>
                  <a:srgbClr val="A4B0C2"/>
                </a:solidFill>
              </a:defRPr>
            </a:pPr>
            <a:r>
              <a:t>Key observation: higher vehicle counts are associated with lower average speeds in the observed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density and occupancy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Traffic density, speed and vehicle count show strong structure in the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532120" cy="4343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nsity_vs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83443"/>
            <a:ext cx="5330952" cy="3652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828800"/>
            <a:ext cx="5166359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Density vs Average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5440680" cy="4343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ehicle_vs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214767"/>
            <a:ext cx="5239512" cy="35897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1828800"/>
            <a:ext cx="507492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vs Traffic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6217920"/>
            <a:ext cx="8412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100" b="0">
                <a:solidFill>
                  <a:srgbClr val="A4B0C2"/>
                </a:solidFill>
              </a:defRPr>
            </a:pPr>
            <a:r>
              <a:t>The visible separation between traffic regions supports the idea that clustering can discover meaningful flow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Correlation helps us understand which traffic measurements move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62356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4" y="2002536"/>
            <a:ext cx="5174171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525780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Correlation Heatmap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50749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819656"/>
            <a:ext cx="46360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WHAT THE VALUES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2514600" cy="24688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Vehicle count ↔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240280"/>
            <a:ext cx="1325880" cy="34747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87752"/>
            <a:ext cx="3977639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136392"/>
            <a:ext cx="2514600" cy="24688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Vehicle count ↔ density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090672"/>
            <a:ext cx="1325880" cy="34747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800" b="1">
                <a:solidFill>
                  <a:srgbClr val="43D891"/>
                </a:solidFill>
              </a:defRPr>
            </a:pPr>
            <a:r>
              <a:t>+0.851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38144"/>
            <a:ext cx="3977639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positive 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86784"/>
            <a:ext cx="2514600" cy="24688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Speed ↔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941064"/>
            <a:ext cx="1325880" cy="34747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88536"/>
            <a:ext cx="3977639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37176"/>
            <a:ext cx="2514600" cy="24688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Speed ↔ 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791456"/>
            <a:ext cx="1325880" cy="34747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138928"/>
            <a:ext cx="3977639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532120"/>
            <a:ext cx="4160520" cy="5029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F6F8FC"/>
                </a:solidFill>
              </a:defRPr>
            </a:pPr>
            <a:r>
              <a:t>These relationships show that the selected variables contain strong traffic-flow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Why these four features?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clustering input is deliberately focused on measurable traffic-flow characteristics.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617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Vehicle count captures traffic volume.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Average speed captures traffic movement.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Traffic density captures concentration of vehicles.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Road occupancy captures how much of the road is occupied.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00600"/>
            <a:ext cx="4617720" cy="7772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Together, these features describe both the amount of traffic and how freely it is moving.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IMPORTANT: PCA IS ONLY FOR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5262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800" b="1">
                <a:solidFill>
                  <a:srgbClr val="F6F8FC"/>
                </a:solidFill>
              </a:defRPr>
            </a:pPr>
            <a:r>
              <a:t>Clustering uses all four standardized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54680"/>
            <a:ext cx="452628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0">
                <a:solidFill>
                  <a:srgbClr val="A4B0C2"/>
                </a:solidFill>
              </a:defRPr>
            </a:pPr>
            <a:r>
              <a:t>PCA then reduces the four-dimensional data to two principal components so that the clusters can be plotted on a 2D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709160"/>
            <a:ext cx="164592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828032"/>
            <a:ext cx="1463040" cy="4114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4D scaled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4846320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0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709160"/>
            <a:ext cx="100584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4828032"/>
            <a:ext cx="822960" cy="4114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PCA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846320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0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4709160"/>
            <a:ext cx="105156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4828032"/>
            <a:ext cx="868680" cy="4114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2D plot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K-Means: how the algorithm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K-Means is a centroid-based unsupervised clustering method.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862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34472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324612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K-Means divides observations into K groups so that observations within a cluster are relatively similar to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3246120" cy="9601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0">
                <a:solidFill>
                  <a:srgbClr val="A4B0C2"/>
                </a:solidFill>
              </a:defRPr>
            </a:pPr>
            <a:r>
              <a:t>Each cluster is represented by a centroid — the mean position of the observations assigned to that cluster.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72084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6" y="1865376"/>
            <a:ext cx="628192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907791"/>
            <a:ext cx="914400" cy="53035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Choose 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907791"/>
            <a:ext cx="914400" cy="53035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Assign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88920"/>
            <a:ext cx="128016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907791"/>
            <a:ext cx="1097280" cy="53035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Update centroids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FFA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907791"/>
            <a:ext cx="914400" cy="53035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Repeat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F5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52760" y="2907791"/>
            <a:ext cx="914400" cy="53035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Final clusters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977639"/>
            <a:ext cx="5806440" cy="8686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The algorithm repeatedly assigns points to the nearest centroid and recalculates the centroids until the assignments stabilize.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257800"/>
            <a:ext cx="5715000" cy="5029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For our project, K must be selected before the final K-Means model is fitted.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Selecting the number of clusters with the Elbow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notebook tests K values from 2 through 10 and records the inertia.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9037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75" y="2048255"/>
            <a:ext cx="6071129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1828800"/>
            <a:ext cx="6537959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Elbow Method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737360"/>
            <a:ext cx="37033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1865376"/>
            <a:ext cx="32644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3172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Inertia measures within-cluster variation.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Increasing K generally reduces inertia.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look for a point where additional clusters provide smaller improvements.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 = 3 was selected for the final K-Means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166360"/>
            <a:ext cx="297180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5285232"/>
            <a:ext cx="282549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K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5724144"/>
            <a:ext cx="282549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selected for K-Means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 result: three broad traffic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final model uses K = 3 and the four standardized traffic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14" y="2002536"/>
            <a:ext cx="5269050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603504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K-Means PCA Visualization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4343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19656"/>
            <a:ext cx="3904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CLUSTER INTERPRETATION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141732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2359152"/>
            <a:ext cx="12710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798064"/>
            <a:ext cx="12710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383280"/>
            <a:ext cx="109728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300" b="1">
                <a:solidFill>
                  <a:srgbClr val="43D891"/>
                </a:solidFill>
              </a:defRPr>
            </a:pPr>
            <a:r>
              <a:t>Cluster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83280"/>
            <a:ext cx="242316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Low-congestion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109728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300" b="1">
                <a:solidFill>
                  <a:srgbClr val="FFAD4C"/>
                </a:solidFill>
              </a:defRPr>
            </a:pPr>
            <a:r>
              <a:t>Cluster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977639"/>
            <a:ext cx="242316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Moderate-traffic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72000"/>
            <a:ext cx="109728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300" b="1">
                <a:solidFill>
                  <a:srgbClr val="F55E69"/>
                </a:solidFill>
              </a:defRPr>
            </a:pPr>
            <a:r>
              <a:t>Cluster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572000"/>
            <a:ext cx="242316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High-congestion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120640"/>
            <a:ext cx="3566160" cy="7132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50" b="0">
                <a:solidFill>
                  <a:srgbClr val="A4B0C2"/>
                </a:solidFill>
              </a:defRPr>
            </a:pPr>
            <a:r>
              <a:t>The labels are interpreted from the cluster profiles: high vehicle count, lower speed and higher density/occupancy correspond to the high-congestion pattern.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How do we evaluate the K-Means clusters?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Two internal clustering metrics are used in the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SILHOUETTE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461772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1"/>
            <a:ext cx="44714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0.5214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3"/>
            <a:ext cx="44714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K-Means silhouette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91440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61772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0">
                <a:solidFill>
                  <a:srgbClr val="F6F8FC"/>
                </a:solidFill>
              </a:defRPr>
            </a:pPr>
            <a:r>
              <a:t>Measures how similar an observation is to its own cluster compared with other clusters. Higher values generally indicate better separation.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486460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DAVIES-BOULDIN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331720"/>
            <a:ext cx="461772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450591"/>
            <a:ext cx="44714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0.7045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889503"/>
            <a:ext cx="44714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K-Means Davies-Bouldin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39"/>
            <a:ext cx="91440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461772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400" b="0">
                <a:solidFill>
                  <a:srgbClr val="F6F8FC"/>
                </a:solidFill>
              </a:defRPr>
            </a:pPr>
            <a:r>
              <a:t>Measures similarity between clusters using within-cluster scatter and between-cluster separation. Lower values indicate less cluster overlap.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100" b="0">
                <a:solidFill>
                  <a:srgbClr val="A4B0C2"/>
                </a:solidFill>
              </a:defRPr>
            </a:pPr>
            <a:r>
              <a:t>These metrics describe the structure found by the clustering algorithm; they do not represent a traffic prediction accuracy.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DBSCAN: density-based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DBSCAN groups observations based on dense neighborhoods and can identify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475488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31596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114800" cy="6858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DBSCAN does not require us to specify the number of clusters in advance.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Dense regions form clusters.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Sparse observations may be labelled as noise.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This makes DBSCAN useful when unusual observations are important.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737360"/>
            <a:ext cx="585216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88736" y="1865376"/>
            <a:ext cx="5413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PARAMETERS USED IN OUR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219456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496312"/>
            <a:ext cx="2048255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935224"/>
            <a:ext cx="2048255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eps — neighborhood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377440"/>
            <a:ext cx="246888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496312"/>
            <a:ext cx="232257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935224"/>
            <a:ext cx="232257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min_samples — minimum 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77639"/>
            <a:ext cx="5166360" cy="8229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In our notebook, DBSCAN was run with eps = 0.5 and min_samples = 5 on the standardized traffic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166360"/>
            <a:ext cx="516636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Points that do not satisfy the density requirement can receive the label −1, which we interpret as noise.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DBSCAN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DBSCAN result: six clusters + noise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implementation identifies six clusters and 41 noise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bscan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14" y="2002536"/>
            <a:ext cx="5269050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6035040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DBSCAN PCA Visualization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4343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19656"/>
            <a:ext cx="3904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141732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2359152"/>
            <a:ext cx="12710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FFAD4C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798064"/>
            <a:ext cx="12710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40280"/>
            <a:ext cx="1874519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2359152"/>
            <a:ext cx="172821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F55E69"/>
                </a:solidFill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798064"/>
            <a:ext cx="172821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noise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429000"/>
            <a:ext cx="1783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3547872"/>
            <a:ext cx="163677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0.3897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3986784"/>
            <a:ext cx="163677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Silhouette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3429000"/>
            <a:ext cx="15544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3547872"/>
            <a:ext cx="1408176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1.17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3986784"/>
            <a:ext cx="1408176" cy="20116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Davies-Bouldin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617720"/>
            <a:ext cx="13716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00" b="1">
                <a:solidFill>
                  <a:srgbClr val="FFAD4C"/>
                </a:solidFill>
              </a:defRPr>
            </a:pPr>
            <a:r>
              <a:t>Evaluation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983480"/>
            <a:ext cx="3611880" cy="6858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150" b="0">
                <a:solidFill>
                  <a:srgbClr val="F6F8FC"/>
                </a:solidFill>
              </a:defRPr>
            </a:pPr>
            <a:r>
              <a:t>The notebook excludes noise points when calculating the DBSCAN Silhouette and Davies-Bouldin metrics.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 vs 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Both methods use the same standardized traffic features but organize the observations differently.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94436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Aspect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783080"/>
            <a:ext cx="216712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947672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K-Means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83080"/>
            <a:ext cx="216712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1947672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DBSCAN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41448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06040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441448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606040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Centroid-based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41448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2606040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Density-based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99815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Clusters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099815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3264408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099815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64408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758184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922776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Noise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758184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922776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758184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922776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416552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581144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Silhouette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4416552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4581144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0.5214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416552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581144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0.3897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074920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239512"/>
            <a:ext cx="276148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Davies-Bouldin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5074920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3048" y="5239512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0.7045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074920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5239512"/>
            <a:ext cx="19842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1.17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1783080"/>
            <a:ext cx="4023360" cy="3968496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17536" y="1911095"/>
            <a:ext cx="358444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HOW TO INTERPRET THE DIFFERENCE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3317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K-Means produces three broad, interpretable traffic patterns.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identifies six density-based groups.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additionally identifies 41 observations as noise.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The two algorithms therefore provide complementary views of the same 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5166360"/>
            <a:ext cx="333756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50" b="0">
                <a:solidFill>
                  <a:srgbClr val="A4B0C2"/>
                </a:solidFill>
              </a:defRPr>
            </a:pPr>
            <a:r>
              <a:t>The metrics are reported from this dataset and this implementation; they should be interpreted in that context.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Final findings and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project demonstrates a complete unsupervised-learning workflow for traffic-flow pattern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629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61904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5989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/>
              <a:t>• Analyzed 588 traffic records using four core traffic measurements.
• Performed EDA to understand distributions and relationships.
• Verified data quality and standardized the clustering features.
• K-Means identified three broad traffic patterns.
• DBSCAN identified six density-based clusters and 41 noise observations.
• Used Silhouette Score and Davies-Bouldin Index to evaluate the resulting cluster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737360"/>
            <a:ext cx="3977639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3256" y="1865376"/>
            <a:ext cx="3538727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Systematically tune DBSCAN parameters.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Test additional clustering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Add richer road-level and temporal data.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Explore real-time traffic monitoring applications.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66360"/>
            <a:ext cx="3246120" cy="4114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700" b="1">
                <a:solidFill>
                  <a:srgbClr val="2FD3FF"/>
                </a:solidFill>
              </a:defRPr>
            </a:pPr>
            <a:r>
              <a:t>Traffic data → patterns →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PRESENTATION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Implementation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the Colab notebook to show that the presentation results come directly from the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29900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1. DATA +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>
                <a:solidFill>
                  <a:srgbClr val="F5F8FC"/>
                </a:solidFill>
              </a:rPr>
              <a:t>• Check shape / columns
• Missing values + duplicates
• Show EDA graphs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56816"/>
            <a:ext cx="29900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2.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>
                <a:solidFill>
                  <a:srgbClr val="F5F8FC"/>
                </a:solidFill>
              </a:rPr>
              <a:t>• Select 4 features
• Quality check
• StandardScaler
• Create X_scaled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56816"/>
            <a:ext cx="2990088" cy="25603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3. ML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Elbow → K=3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K-Means metrics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+ noise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Final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897880"/>
            <a:ext cx="6355080" cy="292608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r>
              <a:rPr>
                <a:solidFill>
                  <a:srgbClr val="AAB4C3"/>
                </a:solidFill>
              </a:rPr>
              <a:t>Final notebook: open the project Colab notebook used for the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