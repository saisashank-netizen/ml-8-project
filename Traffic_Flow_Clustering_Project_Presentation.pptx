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49640" y="0"/>
            <a:ext cx="3642055" cy="6858000"/>
          </a:xfrm>
          <a:prstGeom prst="rect">
            <a:avLst/>
          </a:prstGeom>
          <a:solidFill>
            <a:srgbClr val="23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914400"/>
            <a:ext cx="1828800" cy="1828800"/>
          </a:xfrm>
          <a:prstGeom prst="ellipse">
            <a:avLst/>
          </a:prstGeom>
          <a:noFill/>
          <a:ln>
            <a:solidFill>
              <a:srgbClr val="6EB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2011680"/>
            <a:ext cx="1828800" cy="1828800"/>
          </a:xfrm>
          <a:prstGeom prst="ellipse">
            <a:avLst/>
          </a:prstGeom>
          <a:noFill/>
          <a:ln>
            <a:solidFill>
              <a:srgbClr val="6EB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3108960"/>
            <a:ext cx="1828800" cy="1828800"/>
          </a:xfrm>
          <a:prstGeom prst="ellipse">
            <a:avLst/>
          </a:prstGeom>
          <a:noFill/>
          <a:ln>
            <a:solidFill>
              <a:srgbClr val="6EB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4206240"/>
            <a:ext cx="1828800" cy="1828800"/>
          </a:xfrm>
          <a:prstGeom prst="ellipse">
            <a:avLst/>
          </a:prstGeom>
          <a:noFill/>
          <a:ln>
            <a:solidFill>
              <a:srgbClr val="6EB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0" y="5303520"/>
            <a:ext cx="1828800" cy="1828800"/>
          </a:xfrm>
          <a:prstGeom prst="ellipse">
            <a:avLst/>
          </a:prstGeom>
          <a:noFill/>
          <a:ln>
            <a:solidFill>
              <a:srgbClr val="6EB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8580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96D2F0"/>
                </a:solidFill>
                <a:latin typeface="Aptos"/>
              </a:rPr>
              <a:t>MACHINE LEARNING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72237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Traffic Flow Pattern
Clustering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8036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CE8F2"/>
                </a:solidFill>
                <a:latin typeface="Aptos"/>
              </a:rPr>
              <a:t>Using K-Means and DBSCAN for Smart Urban Traffic Congestion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160520"/>
            <a:ext cx="6217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N. Yeswanth Kumar  •  2520030183
B. Sai Sashank  •  2520030454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983480"/>
            <a:ext cx="70408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6"/>
                </a:solidFill>
                <a:latin typeface="Aptos"/>
              </a:rPr>
              <a:t>Under the guidance of Mr. Shaik Asif
Department of CSE  |  A.Y. 2026–27
Koneru Lakshmaiah Education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080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6D2F0"/>
                </a:solidFill>
                <a:latin typeface="Aptos"/>
              </a:rPr>
              <a:t>BACHELOR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F34"/>
                </a:solidFill>
                <a:latin typeface="Aptos"/>
              </a:rPr>
              <a:t>1.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F1F34"/>
                </a:solidFill>
                <a:latin typeface="Aptos"/>
              </a:rPr>
              <a:t>Why analyze traffic flow patterns?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6596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Rapid urbanization and increasing vehicle ownership create severe congestion.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Congestion causes delays, fuel wastage, environmental pollution, and reduced productivity.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Traditional traffic monitoring can struggle with large volumes of traffic data.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Unsupervised machine learning can reveal hidden traffic patterns without predefined labels.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417320"/>
            <a:ext cx="3794760" cy="4069080"/>
          </a:xfrm>
          <a:prstGeom prst="roundRect">
            <a:avLst/>
          </a:prstGeom>
          <a:solidFill>
            <a:srgbClr val="F1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417320"/>
            <a:ext cx="73152" cy="40690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6408" y="1581912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F34"/>
                </a:solidFill>
                <a:latin typeface="Aptos"/>
              </a:rPr>
              <a:t>Project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1984248"/>
            <a:ext cx="3410712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Cluster traffic observations using vehicle count, average speed, traffic density, and road occupancy to identify regular patterns and unusual congestion regions.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897880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Source: project abstract &amp; introduction (PDF, pp. 2–3).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Traffic Flow Pattern Clustering • Machine Learning • 2026–27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F34"/>
                </a:solidFill>
                <a:latin typeface="Aptos"/>
              </a:rPr>
              <a:t>2.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166360" cy="1691640"/>
          </a:xfrm>
          <a:prstGeom prst="roundRect">
            <a:avLst/>
          </a:prstGeom>
          <a:solidFill>
            <a:srgbClr val="F1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16916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F34"/>
                </a:solidFill>
                <a:latin typeface="Aptos"/>
              </a:rPr>
              <a:t>01  Understand traffic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4782312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ptos"/>
              </a:rPr>
              <a:t>Analyze vehicle count, speed, density and occupancy.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66360" cy="1691640"/>
          </a:xfrm>
          <a:prstGeom prst="roundRect">
            <a:avLst/>
          </a:prstGeom>
          <a:solidFill>
            <a:srgbClr val="F1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73152" cy="1691640"/>
          </a:xfrm>
          <a:prstGeom prst="rect">
            <a:avLst/>
          </a:prstGeom>
          <a:solidFill>
            <a:srgbClr val="28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58191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F34"/>
                </a:solidFill>
                <a:latin typeface="Aptos"/>
              </a:rPr>
              <a:t>02  Discover traffic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984248"/>
            <a:ext cx="4782312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ptos"/>
              </a:rPr>
              <a:t>Use K-Means to group similar traffic observations.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66160"/>
            <a:ext cx="5166360" cy="1691640"/>
          </a:xfrm>
          <a:prstGeom prst="roundRect">
            <a:avLst/>
          </a:prstGeom>
          <a:solidFill>
            <a:srgbClr val="F1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566160"/>
            <a:ext cx="73152" cy="1691640"/>
          </a:xfrm>
          <a:prstGeom prst="rect">
            <a:avLst/>
          </a:prstGeom>
          <a:solidFill>
            <a:srgbClr val="E6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73075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F34"/>
                </a:solidFill>
                <a:latin typeface="Aptos"/>
              </a:rPr>
              <a:t>03  Detect abnormal congestion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33088"/>
            <a:ext cx="4782312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ptos"/>
              </a:rPr>
              <a:t>Use DBSCAN to identify dense regions and noise/outliers.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566160"/>
            <a:ext cx="5166360" cy="1691640"/>
          </a:xfrm>
          <a:prstGeom prst="roundRect">
            <a:avLst/>
          </a:prstGeom>
          <a:solidFill>
            <a:srgbClr val="F1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566160"/>
            <a:ext cx="73152" cy="1691640"/>
          </a:xfrm>
          <a:prstGeom prst="rect">
            <a:avLst/>
          </a:prstGeom>
          <a:solidFill>
            <a:srgbClr val="23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73075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F34"/>
                </a:solidFill>
                <a:latin typeface="Aptos"/>
              </a:rPr>
              <a:t>04  Support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4133088"/>
            <a:ext cx="4782312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ptos"/>
              </a:rPr>
              <a:t>Provide insights for signals, alternate routes and infrastructure planning.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7150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1F34"/>
                </a:solidFill>
                <a:latin typeface="Aptos"/>
              </a:rPr>
              <a:t>The project aims to contribute to intelligent transportation and smart-city traffic management.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Traffic Flow Pattern Clustering • Machine Learning • 2026–27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F34"/>
                </a:solidFill>
                <a:latin typeface="Aptos"/>
              </a:rPr>
              <a:t>3. Dataset &amp; Traffic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Values below are taken from the supplied Jupyter notebook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3498DB"/>
                </a:solidFill>
                <a:latin typeface="Aptos"/>
              </a:rPr>
              <a:t>588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0136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Aptos"/>
              </a:rPr>
              <a:t>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325880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2363A0"/>
                </a:solidFill>
                <a:latin typeface="Apto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80136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Aptos"/>
              </a:rPr>
              <a:t>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25880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28966E"/>
                </a:solidFill>
                <a:latin typeface="Aptos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80136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Aptos"/>
              </a:rPr>
              <a:t>missing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325880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E68C2D"/>
                </a:solidFill>
                <a:latin typeface="Aptos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80136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Aptos"/>
              </a:rPr>
              <a:t>duplicate rows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2240280"/>
          <a:ext cx="1069848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97680"/>
                <a:gridCol w="3657600"/>
              </a:tblGrid>
              <a:tr h="630936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Observed range / type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Vehicle_Count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Number of vehicles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15 – 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Average_Speed_kmph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Average traffic speed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10.03 – 69.96 km/h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Traffic_Density_veh_per_km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Vehicles per kilometre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10.00 – 89.82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Road_Occupancy_percent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Road occupancy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10.12 – 89.70 %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49808" y="562356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F34"/>
                </a:solidFill>
                <a:latin typeface="Aptos"/>
              </a:rPr>
              <a:t>Traffic conditions: Low = 237, Moderate = 194, High = 157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Traffic Flow Pattern Clustering • Machine Learning • 2026–27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F34"/>
                </a:solidFill>
                <a:latin typeface="Aptos"/>
              </a:rPr>
              <a:t>4. Proposed Methodology /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965960"/>
            <a:ext cx="1508760" cy="2057400"/>
          </a:xfrm>
          <a:prstGeom prst="roundRect">
            <a:avLst/>
          </a:prstGeom>
          <a:solidFill>
            <a:srgbClr val="F1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" y="1572768"/>
            <a:ext cx="566928" cy="5669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67335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9572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1F34"/>
                </a:solidFill>
                <a:latin typeface="Aptos"/>
              </a:rP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788920"/>
            <a:ext cx="129844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E293B"/>
                </a:solidFill>
                <a:latin typeface="Aptos"/>
              </a:rPr>
              <a:t>Traffic sensor / dataset records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2971800"/>
            <a:ext cx="4114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14600" y="1965960"/>
            <a:ext cx="1508760" cy="2057400"/>
          </a:xfrm>
          <a:prstGeom prst="roundRect">
            <a:avLst/>
          </a:prstGeom>
          <a:solidFill>
            <a:srgbClr val="F1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90088" y="1572768"/>
            <a:ext cx="566928" cy="566928"/>
          </a:xfrm>
          <a:prstGeom prst="ellipse">
            <a:avLst/>
          </a:prstGeom>
          <a:solidFill>
            <a:srgbClr val="23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0088" y="167335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39572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1F34"/>
                </a:solidFill>
                <a:latin typeface="Aptos"/>
              </a:rPr>
              <a:t>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2788920"/>
            <a:ext cx="129844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E293B"/>
                </a:solidFill>
                <a:latin typeface="Aptos"/>
              </a:rPr>
              <a:t>Missing values, duplicates, normalization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971800"/>
            <a:ext cx="4114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34840" y="1965960"/>
            <a:ext cx="1508760" cy="2057400"/>
          </a:xfrm>
          <a:prstGeom prst="roundRect">
            <a:avLst/>
          </a:prstGeom>
          <a:solidFill>
            <a:srgbClr val="F1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10327" y="1572768"/>
            <a:ext cx="566928" cy="566928"/>
          </a:xfrm>
          <a:prstGeom prst="ellipse">
            <a:avLst/>
          </a:prstGeom>
          <a:solidFill>
            <a:srgbClr val="28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0327" y="167335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39572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1F34"/>
                </a:solidFill>
                <a:latin typeface="Aptos"/>
              </a:rPr>
              <a:t>Explore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2788920"/>
            <a:ext cx="129844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E293B"/>
                </a:solidFill>
                <a:latin typeface="Aptos"/>
              </a:rPr>
              <a:t>Distributions, correlations, outliers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0" y="2971800"/>
            <a:ext cx="411479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55080" y="1965960"/>
            <a:ext cx="1508760" cy="2057400"/>
          </a:xfrm>
          <a:prstGeom prst="roundRect">
            <a:avLst/>
          </a:prstGeom>
          <a:solidFill>
            <a:srgbClr val="F1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30568" y="1572768"/>
            <a:ext cx="566928" cy="566928"/>
          </a:xfrm>
          <a:prstGeom prst="ellipse">
            <a:avLst/>
          </a:prstGeom>
          <a:solidFill>
            <a:srgbClr val="E6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0568" y="167335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39572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1F34"/>
                </a:solidFill>
                <a:latin typeface="Aptos"/>
              </a:rPr>
              <a:t>Cluster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2788920"/>
            <a:ext cx="129844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E293B"/>
                </a:solidFill>
                <a:latin typeface="Aptos"/>
              </a:rPr>
              <a:t>K-Means + DBSCAN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63840" y="2971800"/>
            <a:ext cx="4114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75320" y="1965960"/>
            <a:ext cx="1508760" cy="2057400"/>
          </a:xfrm>
          <a:prstGeom prst="roundRect">
            <a:avLst/>
          </a:prstGeom>
          <a:solidFill>
            <a:srgbClr val="F1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50808" y="1572768"/>
            <a:ext cx="566928" cy="566928"/>
          </a:xfrm>
          <a:prstGeom prst="ellipse">
            <a:avLst/>
          </a:prstGeom>
          <a:solidFill>
            <a:srgbClr val="23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50808" y="167335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39572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1F34"/>
                </a:solidFill>
                <a:latin typeface="Aptos"/>
              </a:rPr>
              <a:t>Evaluate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2788920"/>
            <a:ext cx="129844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E293B"/>
                </a:solidFill>
                <a:latin typeface="Aptos"/>
              </a:rPr>
              <a:t>Silhouette, Davies–Bouldin, visual inspection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84080" y="2971800"/>
            <a:ext cx="4114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195560" y="1965960"/>
            <a:ext cx="1508760" cy="2057400"/>
          </a:xfrm>
          <a:prstGeom prst="roundRect">
            <a:avLst/>
          </a:prstGeom>
          <a:solidFill>
            <a:srgbClr val="F1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71048" y="1572768"/>
            <a:ext cx="566928" cy="566928"/>
          </a:xfrm>
          <a:prstGeom prst="ellipse">
            <a:avLst/>
          </a:prstGeom>
          <a:solidFill>
            <a:srgbClr val="28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71048" y="167335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239572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1F34"/>
                </a:solidFill>
                <a:latin typeface="Aptos"/>
              </a:rPr>
              <a:t>Apply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05288" y="2788920"/>
            <a:ext cx="129844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E293B"/>
                </a:solidFill>
                <a:latin typeface="Aptos"/>
              </a:rPr>
              <a:t>Congestion hotspots &amp; traffic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4709160"/>
            <a:ext cx="10744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Notebook status: the supplied notebook demonstrates data loading, quality checks, exploratory analysis, correlation analysis, condition summaries and hourly traffic analysis; the K-Means/DBSCAN modeling stage is described in the project abstract but is not yet implemented in the supplied notebook.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Traffic Flow Pattern Clustering • Machine Learning • 2026–27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F34"/>
                </a:solidFill>
                <a:latin typeface="Aptos"/>
              </a:rPr>
              <a:t>5. Exploratory Data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Charts reproduced from the supplied notebook outputs.</a:t>
            </a:r>
          </a:p>
        </p:txBody>
      </p:sp>
      <p:pic>
        <p:nvPicPr>
          <p:cNvPr id="5" name="Picture 4" descr="notebook_chart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94960" cy="4102963"/>
          </a:xfrm>
          <a:prstGeom prst="rect">
            <a:avLst/>
          </a:prstGeom>
        </p:spPr>
      </p:pic>
      <p:pic>
        <p:nvPicPr>
          <p:cNvPr id="6" name="Picture 5" descr="notebook_chart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5349240" cy="36649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480" y="566928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1F34"/>
                </a:solidFill>
                <a:latin typeface="Aptos"/>
              </a:rPr>
              <a:t>Traffic condition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56692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1F34"/>
                </a:solidFill>
                <a:latin typeface="Aptos"/>
              </a:rPr>
              <a:t>Vehicle count vs average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Traffic Flow Pattern Clustering • Machine Learning • 2026–27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F34"/>
                </a:solidFill>
                <a:latin typeface="Aptos"/>
              </a:rPr>
              <a:t>6. Feature Relationship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Correlation matrix from the supplied notebook.</a:t>
            </a:r>
          </a:p>
        </p:txBody>
      </p:sp>
      <p:pic>
        <p:nvPicPr>
          <p:cNvPr id="5" name="Picture 4" descr="notebook_chart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486400" cy="435340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417320"/>
            <a:ext cx="493776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73152" cy="1417320"/>
          </a:xfrm>
          <a:prstGeom prst="rect">
            <a:avLst/>
          </a:prstGeom>
          <a:solidFill>
            <a:srgbClr val="28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158191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F34"/>
                </a:solidFill>
                <a:latin typeface="Aptos"/>
              </a:rPr>
              <a:t>Strong positive relationships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984248"/>
            <a:ext cx="455371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ptos"/>
              </a:rPr>
              <a:t>Vehicle count correlates strongly with traffic density (0.851) and road occupancy (0.846).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063240"/>
            <a:ext cx="493776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3063240"/>
            <a:ext cx="73152" cy="1417320"/>
          </a:xfrm>
          <a:prstGeom prst="rect">
            <a:avLst/>
          </a:prstGeom>
          <a:solidFill>
            <a:srgbClr val="E6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322783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F34"/>
                </a:solidFill>
                <a:latin typeface="Aptos"/>
              </a:rPr>
              <a:t>Speed moves in the opposite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3630168"/>
            <a:ext cx="455371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ptos"/>
              </a:rPr>
              <a:t>Average speed has strong negative correlation with vehicle count (−0.826), density (−0.816) and occupancy (−0.820).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709160"/>
            <a:ext cx="4937760" cy="868680"/>
          </a:xfrm>
          <a:prstGeom prst="roundRect">
            <a:avLst/>
          </a:prstGeom>
          <a:solidFill>
            <a:srgbClr val="F1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4709160"/>
            <a:ext cx="73152" cy="8686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487375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F34"/>
                </a:solidFill>
                <a:latin typeface="Aptos"/>
              </a:rPr>
              <a:t>Implication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5276088"/>
            <a:ext cx="4553712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These features provide useful signals for separating traffic-flow states.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Traffic Flow Pattern Clustering • Machine Learning • 2026–27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F34"/>
                </a:solidFill>
                <a:latin typeface="Aptos"/>
              </a:rPr>
              <a:t>7. Traffic Condition Profiles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Average values by the dataset's existing Traffic_Condition label.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17320"/>
          <a:ext cx="108356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48840"/>
                <a:gridCol w="2148840"/>
                <a:gridCol w="2331720"/>
                <a:gridCol w="2377440"/>
              </a:tblGrid>
              <a:tr h="58293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Vehicle Count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Avg Speed (km/h)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Density (veh/km)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Occupancy (%)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225.87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23.37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69.22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111.52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40.72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40.09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39.88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47.82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57.52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4160520"/>
            <a:ext cx="342900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73152" cy="1417320"/>
          </a:xfrm>
          <a:prstGeom prst="rect">
            <a:avLst/>
          </a:prstGeom>
          <a:solidFill>
            <a:srgbClr val="28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43251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F34"/>
                </a:solidFill>
                <a:latin typeface="Aptos"/>
              </a:rPr>
              <a:t>Low traffic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4727448"/>
            <a:ext cx="304495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ptos"/>
              </a:rPr>
              <a:t>Lower vehicle count, density and occupancy with higher average speed.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160520"/>
            <a:ext cx="342900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4160520"/>
            <a:ext cx="73152" cy="1417320"/>
          </a:xfrm>
          <a:prstGeom prst="rect">
            <a:avLst/>
          </a:prstGeom>
          <a:solidFill>
            <a:srgbClr val="E6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43251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F34"/>
                </a:solidFill>
                <a:latin typeface="Aptos"/>
              </a:rPr>
              <a:t>Moderate traffic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4727448"/>
            <a:ext cx="304495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ptos"/>
              </a:rPr>
              <a:t>Intermediate values across all four traffic-flow features.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4160520"/>
            <a:ext cx="342900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4160520"/>
            <a:ext cx="73152" cy="141732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43251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F34"/>
                </a:solidFill>
                <a:latin typeface="Aptos"/>
              </a:rPr>
              <a:t>High traffic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4727448"/>
            <a:ext cx="304495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ptos"/>
              </a:rPr>
              <a:t>Highest vehicle count, density and occupancy, with much lower speed.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Traffic Flow Pattern Clustering • Machine Learning • 2026–27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F34"/>
                </a:solidFill>
                <a:latin typeface="Aptos"/>
              </a:rPr>
              <a:t>8. Hourly Traffic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Average vehicle count by hour from the supplied notebook.</a:t>
            </a:r>
          </a:p>
        </p:txBody>
      </p:sp>
      <p:pic>
        <p:nvPicPr>
          <p:cNvPr id="5" name="Picture 4" descr="notebook_chart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583680" cy="36403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600200"/>
            <a:ext cx="365760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600200"/>
            <a:ext cx="73152" cy="1508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6408" y="1764792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F34"/>
                </a:solidFill>
                <a:latin typeface="Aptos"/>
              </a:rPr>
              <a:t>Observed variation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2167128"/>
            <a:ext cx="3273552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ptos"/>
              </a:rPr>
              <a:t>Average vehicle count varies across the 24-hour period rather than remaining constant.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429000"/>
            <a:ext cx="365760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3429000"/>
            <a:ext cx="73152" cy="1508760"/>
          </a:xfrm>
          <a:prstGeom prst="rect">
            <a:avLst/>
          </a:prstGeom>
          <a:solidFill>
            <a:srgbClr val="28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3593592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F34"/>
                </a:solidFill>
                <a:latin typeface="Apto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3995928"/>
            <a:ext cx="3273552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ptos"/>
              </a:rPr>
              <a:t>Time-of-day patterns can help traffic managers anticipate changing road demand.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525780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F34"/>
                </a:solidFill>
                <a:latin typeface="Aptos"/>
              </a:rPr>
              <a:t>Highest observed hourly average in the notebook: 132.29 vehicles at hour 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Traffic Flow Pattern Clustering • Machine Learning • 2026–27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F34"/>
                </a:solidFill>
                <a:latin typeface="Aptos"/>
              </a:rPr>
              <a:t>9. K-Means vs DBSCAN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Algorithm roles specified in the project abstract.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251960"/>
          </a:xfrm>
          <a:prstGeom prst="roundRect">
            <a:avLst/>
          </a:prstGeom>
          <a:solidFill>
            <a:srgbClr val="F1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251960"/>
          </a:xfrm>
          <a:prstGeom prst="rect">
            <a:avLst/>
          </a:prstGeom>
          <a:solidFill>
            <a:srgbClr val="23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F34"/>
                </a:solidFill>
                <a:latin typeface="Aptos"/>
              </a:rPr>
              <a:t>K-Means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4828032" cy="3538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ptos"/>
              </a:rPr>
              <a:t>• Partition observations into a predefined number of clusters.
• Groups records according to similarity in traffic features.
• Useful for identifying regular traffic-flow patterns such as low, moderate and high states.
• Requires the number of clusters to be selected before 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4251960"/>
          </a:xfrm>
          <a:prstGeom prst="roundRect">
            <a:avLst/>
          </a:prstGeom>
          <a:solidFill>
            <a:srgbClr val="F1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4251960"/>
          </a:xfrm>
          <a:prstGeom prst="rect">
            <a:avLst/>
          </a:prstGeom>
          <a:solidFill>
            <a:srgbClr val="E6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58191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F34"/>
                </a:solidFill>
                <a:latin typeface="Aptos"/>
              </a:rPr>
              <a:t>DBSCAN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984248"/>
            <a:ext cx="4828032" cy="3538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ptos"/>
              </a:rPr>
              <a:t>• Density-based clustering method.
• Finds naturally occurring dense regions without fixing the number of clusters beforehand.
• Can identify noise/outliers and unusual congestion events.
• Useful for locating irregular congestion caused by accidents, roadblocks or special events.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1F34"/>
                </a:solidFill>
                <a:latin typeface="Aptos"/>
              </a:rPr>
              <a:t>Project evaluation plan: compare cluster quality using Silhouette Score, Davies–Bouldin Index and visual cluster representations.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Traffic Flow Pattern Clustering • Machine Learning • 2026–27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F34"/>
                </a:solidFill>
                <a:latin typeface="Aptos"/>
              </a:rPr>
              <a:t>10. Expected Applications &amp;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074920" cy="1691640"/>
          </a:xfrm>
          <a:prstGeom prst="roundRect">
            <a:avLst/>
          </a:prstGeom>
          <a:solidFill>
            <a:srgbClr val="F1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16916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81912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F34"/>
                </a:solidFill>
                <a:latin typeface="Aptos"/>
              </a:rPr>
              <a:t>Traffic signal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84248"/>
            <a:ext cx="4690872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ptos"/>
              </a:rPr>
              <a:t>Use recurring traffic patterns to support better signal timing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074920" cy="1691640"/>
          </a:xfrm>
          <a:prstGeom prst="roundRect">
            <a:avLst/>
          </a:prstGeom>
          <a:solidFill>
            <a:srgbClr val="F1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73152" cy="1691640"/>
          </a:xfrm>
          <a:prstGeom prst="rect">
            <a:avLst/>
          </a:prstGeom>
          <a:solidFill>
            <a:srgbClr val="28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581912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F34"/>
                </a:solidFill>
                <a:latin typeface="Aptos"/>
              </a:rPr>
              <a:t>Alternate route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1984248"/>
            <a:ext cx="4690872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ptos"/>
              </a:rPr>
              <a:t>Identify congestion-prone conditions and support route recommendations.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5074920" cy="1691640"/>
          </a:xfrm>
          <a:prstGeom prst="roundRect">
            <a:avLst/>
          </a:prstGeom>
          <a:solidFill>
            <a:srgbClr val="F1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73152" cy="1691640"/>
          </a:xfrm>
          <a:prstGeom prst="rect">
            <a:avLst/>
          </a:prstGeom>
          <a:solidFill>
            <a:srgbClr val="E6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730752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F34"/>
                </a:solidFill>
                <a:latin typeface="Aptos"/>
              </a:rPr>
              <a:t>Road infrastructure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133088"/>
            <a:ext cx="4690872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ptos"/>
              </a:rPr>
              <a:t>Use traffic-flow evidence to prioritize capacity and improvement needs.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566160"/>
            <a:ext cx="5074920" cy="1691640"/>
          </a:xfrm>
          <a:prstGeom prst="roundRect">
            <a:avLst/>
          </a:prstGeom>
          <a:solidFill>
            <a:srgbClr val="F1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566160"/>
            <a:ext cx="73152" cy="169164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3730752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F34"/>
                </a:solidFill>
                <a:latin typeface="Aptos"/>
              </a:rPr>
              <a:t>Congestion hotspot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4133088"/>
            <a:ext cx="4690872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ptos"/>
              </a:rPr>
              <a:t>DBSCAN can help surface dense and unusual traffic regions.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1F34"/>
                </a:solidFill>
                <a:latin typeface="Aptos"/>
              </a:rPr>
              <a:t>Overall goal: contribute to data-driven traffic management and intelligent transportation systems for smart cities.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Traffic Flow Pattern Clustering • Machine Learning • 2026–27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F34"/>
                </a:solidFill>
                <a:latin typeface="Aptos"/>
              </a:rPr>
              <a:t>11. Software &amp; Hardware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Requirements listed on page 3 of the supplied project document.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325880"/>
          <a:ext cx="106070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863840"/>
              </a:tblGrid>
              <a:tr h="44473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0F1F34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Operating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Windows 10/11 or Ubuntu Linux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Programming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Python 3.10 or above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Jupyter Notebook / Visual Studio Code / PyCharm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ML Library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Scikit-learn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Data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Pandas, NumPy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Visualization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Matplotlib, Seaborn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Dataset 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Kaggle / UCI ML Repository / Traffic Sensor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Database (Optional)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MySQL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Version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Git &amp; GitHub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7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Intel Core i3/i5 or above, 8 GB RAM, 10 GB free storage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Traffic Flow Pattern Clustering • Machine Learning • 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12.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DCE8F2"/>
                </a:solidFill>
                <a:latin typeface="Aptos"/>
              </a:rPr>
              <a:t>The project combines traffic-data exploration with unsupervised learning to understand congestion patterns.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9875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The supplied dataset contains 588 traffic observations with four key numerical traffic features.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Data-quality checks show no missing values and no duplicate rows in the notebook output.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Exploratory analysis shows strong relationships between traffic volume, density, occupancy and speed.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K-Means is intended to group regular traffic states, while DBSCAN is intended to reveal dense/irregular congestion regions.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The final clustering stage can support smarter traffic signals, routing and infrastructure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0644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96D2F0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996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4023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B4C8D7"/>
                </a:solidFill>
                <a:latin typeface="Aptos"/>
              </a:rPr>
              <a:t>KLU • CSE • Machine Learning • 2026–27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